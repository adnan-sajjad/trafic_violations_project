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1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130"/>
                </a:solidFill>
                <a:latin typeface="Calibri"/>
              </a:rPr>
              <a:t>Violation Count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</c:v>
                </c:pt>
              </c:strCache>
            </c:strRef>
          </c:tx>
          <c:spPr>
            <a:solidFill>
              <a:srgbClr val="1B1F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Wrong-Side Driving</c:v>
                  </c:pt>
                  <c:pt idx="1">
                    <c:v>Red-Light Jump</c:v>
                  </c:pt>
                  <c:pt idx="2">
                    <c:v>No Seatbelt</c:v>
                  </c:pt>
                  <c:pt idx="3">
                    <c:v>DUI</c:v>
                  </c:pt>
                  <c:pt idx="4">
                    <c:v>Speeding</c:v>
                  </c:pt>
                  <c:pt idx="5">
                    <c:v>No Helmet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203</c:v>
                </c:pt>
                <c:pt idx="1">
                  <c:v>192</c:v>
                </c:pt>
                <c:pt idx="2">
                  <c:v>191</c:v>
                </c:pt>
                <c:pt idx="3">
                  <c:v>175</c:v>
                </c:pt>
                <c:pt idx="4">
                  <c:v>173</c:v>
                </c:pt>
                <c:pt idx="5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1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130"/>
                </a:solidFill>
                <a:latin typeface="Calibri"/>
              </a:rPr>
              <a:t>Revenue (₹ Lakh)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DUI</c:v>
                  </c:pt>
                  <c:pt idx="1">
                    <c:v>Wrong-Side Driving</c:v>
                  </c:pt>
                  <c:pt idx="2">
                    <c:v>Red-Light Jump</c:v>
                  </c:pt>
                  <c:pt idx="3">
                    <c:v>Speeding</c:v>
                  </c:pt>
                  <c:pt idx="4">
                    <c:v>No Seatbelt</c:v>
                  </c:pt>
                  <c:pt idx="5">
                    <c:v>No Helmet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14.35</c:v>
                </c:pt>
                <c:pt idx="1">
                  <c:v>10.54</c:v>
                </c:pt>
                <c:pt idx="2">
                  <c:v>6.43</c:v>
                </c:pt>
                <c:pt idx="3">
                  <c:v>5.15</c:v>
                </c:pt>
                <c:pt idx="4">
                  <c:v>1.99</c:v>
                </c:pt>
                <c:pt idx="5">
                  <c:v>0.63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Fine (₹)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Helmet</c:v>
                  </c:pt>
                  <c:pt idx="1">
                    <c:v>No Seatbelt</c:v>
                  </c:pt>
                  <c:pt idx="2">
                    <c:v>Speeding</c:v>
                  </c:pt>
                  <c:pt idx="3">
                    <c:v>Red-Light Jump</c:v>
                  </c:pt>
                  <c:pt idx="4">
                    <c:v>Wrong-Side Driving</c:v>
                  </c:pt>
                  <c:pt idx="5">
                    <c:v>DUI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1000</c:v>
                </c:pt>
                <c:pt idx="1">
                  <c:v>1042</c:v>
                </c:pt>
                <c:pt idx="2">
                  <c:v>2978</c:v>
                </c:pt>
                <c:pt idx="3">
                  <c:v>3352</c:v>
                </c:pt>
                <c:pt idx="4">
                  <c:v>5194</c:v>
                </c:pt>
                <c:pt idx="5">
                  <c:v>8198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Average Fine (₹)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L)</c:v>
                </c:pt>
              </c:strCache>
            </c:strRef>
          </c:tx>
          <c:spPr>
            <a:solidFill>
              <a:srgbClr val="1B1F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Sector 29</c:v>
                  </c:pt>
                  <c:pt idx="1">
                    <c:v>Udyog Vihar</c:v>
                  </c:pt>
                  <c:pt idx="2">
                    <c:v>Cyber City</c:v>
                  </c:pt>
                  <c:pt idx="3">
                    <c:v>Sikanderpur</c:v>
                  </c:pt>
                  <c:pt idx="4">
                    <c:v>NH-8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2.74</c:v>
                </c:pt>
                <c:pt idx="1">
                  <c:v>2.84</c:v>
                </c:pt>
                <c:pt idx="2">
                  <c:v>2.88</c:v>
                </c:pt>
                <c:pt idx="3">
                  <c:v>3.26</c:v>
                </c:pt>
                <c:pt idx="4">
                  <c:v>3.53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Revenue (₹ Lakh)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1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130"/>
                </a:solidFill>
                <a:latin typeface="Calibri"/>
              </a:rPr>
              <a:t>By Weather Condition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</c:v>
                </c:pt>
              </c:strCache>
            </c:strRef>
          </c:tx>
          <c:spPr>
            <a:solidFill>
              <a:srgbClr val="1B1F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Rainy</c:v>
                  </c:pt>
                  <c:pt idx="1">
                    <c:v>Cloudy</c:v>
                  </c:pt>
                  <c:pt idx="2">
                    <c:v>Stormy</c:v>
                  </c:pt>
                  <c:pt idx="3">
                    <c:v>Foggy</c:v>
                  </c:pt>
                  <c:pt idx="4">
                    <c:v>Clear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228</c:v>
                </c:pt>
                <c:pt idx="1">
                  <c:v>201</c:v>
                </c:pt>
                <c:pt idx="2">
                  <c:v>195</c:v>
                </c:pt>
                <c:pt idx="3">
                  <c:v>195</c:v>
                </c:pt>
                <c:pt idx="4">
                  <c:v>178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1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130"/>
                </a:solidFill>
                <a:latin typeface="Calibri"/>
              </a:rPr>
              <a:t>By Time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Violations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Morning</c:v>
                  </c:pt>
                  <c:pt idx="1">
                    <c:v>Afternoon</c:v>
                  </c:pt>
                  <c:pt idx="2">
                    <c:v>Evening</c:v>
                  </c:pt>
                  <c:pt idx="3">
                    <c:v>Night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248</c:v>
                </c:pt>
                <c:pt idx="1">
                  <c:v>241</c:v>
                </c:pt>
                <c:pt idx="2">
                  <c:v>254</c:v>
                </c:pt>
                <c:pt idx="3">
                  <c:v>254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1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130"/>
                </a:solidFill>
                <a:latin typeface="Calibri"/>
              </a:rPr>
              <a:t>Fine Payment Status (997 cases)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A66B"/>
              </a:solidFill>
              <a:effectLst/>
            </c:spPr>
          </c:dPt>
          <c:dPt>
            <c:idx val="1"/>
            <c:bubble3D val="0"/>
            <c:spPr>
              <a:solidFill>
                <a:srgbClr val="F1C40F"/>
              </a:solidFill>
              <a:effectLst/>
            </c:spPr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Paid</c:v>
                </c:pt>
                <c:pt idx="1">
                  <c:v>Disputed</c:v>
                </c:pt>
                <c:pt idx="2">
                  <c:v>Unpaid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345</c:v>
                </c:pt>
                <c:pt idx="1">
                  <c:v>323</c:v>
                </c:pt>
                <c:pt idx="2">
                  <c:v>329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8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GURUGRAM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VIOLATION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risk, and enforcement patterns across 997 recorded violations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 •   Python   •   Power BI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Sajjad Makrani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49840" y="640080"/>
            <a:ext cx="1051560" cy="2743200"/>
          </a:xfrm>
          <a:prstGeom prst="roundRect">
            <a:avLst>
              <a:gd name="adj" fmla="val 13043"/>
            </a:avLst>
          </a:prstGeom>
          <a:solidFill>
            <a:srgbClr val="0E1128"/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86868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Shape 7"/>
          <p:cNvSpPr/>
          <p:nvPr/>
        </p:nvSpPr>
        <p:spPr>
          <a:xfrm>
            <a:off x="10314432" y="1691640"/>
            <a:ext cx="731520" cy="73152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0" name="Shape 8"/>
          <p:cNvSpPr/>
          <p:nvPr/>
        </p:nvSpPr>
        <p:spPr>
          <a:xfrm>
            <a:off x="10314432" y="2514600"/>
            <a:ext cx="731520" cy="731520"/>
          </a:xfrm>
          <a:prstGeom prst="ellipse">
            <a:avLst/>
          </a:prstGeom>
          <a:solidFill>
            <a:srgbClr val="3FA66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raw records across 20 fields — one dataset, two tool stacks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0428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renaming, date parsing, type conversion, missing-value handling, and duplicate removal on a messy raw export.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7373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199339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91756" y="192024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Baseline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91756" y="230428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fines collected, total violations, average fine, and repeat-offender rate established as KPIs.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307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Compare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04164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types, locations, vehicle types, and payment status ranked by count and revenue.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34747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37307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1756" y="365760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91756" y="404164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time of day, and monthly trends layered on top to look for real enforcement patterns.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rows, 20 fields — and one assumption in the SQL script that doesn't hold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Gurgaon_Traffic_violation_data.csv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760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 carry currency symbols and units: Fine_Amount (₹), Speed_Recorded (km/h)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arrive as DD-MM-YYYY strings, need conversion to DATE type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duplicate rows on (Date, Location, Vehicle_Type, Violation_Type)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of 1,000 rows (5%) have a missing Fine_Amount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 w="19050">
            <a:solidFill>
              <a:srgbClr val="F1C4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5902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THE SCRIPT AND THE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48920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traffic_viol.sql checks WHERE Fine_Amount IS NULL and stops there — it assumes zero hits and moves on. That assumption is wrong here: 5% of rows are null. The SQL script never actually handles this case. The Python version fixes it with median imputation grouped by violation type; the SQL script still needs that step added.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69164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9659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SNAPSHOT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0" y="2468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778240" y="2633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778240" y="3547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after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778240" y="44622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per record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49440" y="5212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778240" y="5376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covered (2024)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logic implemented in both MySQL and pandas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41498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2841498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32938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 &amp; types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1738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34356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5134356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25796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fines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54596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27214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7427214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18654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47454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20072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9720072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 fields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side: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STR_TO_DATE for date parsing, ALTER TABLE for column renames/typing, ROW_NUMBER() partitioned on the natural key to drop duplicates.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side: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pandas.to_datetime, groupby().transform() for median imputation by violation type, drop_duplicates() on the same composite key.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8640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Median-per-violation-type imputation was chosen over dropping rows or a global mean, since fine amount varies a lot by violation type (₹1,000 to ₹8,200 average).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997 cleaned violation records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52B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₹39.10 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Fine Collected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90138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52B4F"/>
          </a:solidFill>
          <a:ln/>
        </p:spPr>
      </p:sp>
      <p:sp>
        <p:nvSpPr>
          <p:cNvPr id="8" name="Text 6"/>
          <p:cNvSpPr/>
          <p:nvPr/>
        </p:nvSpPr>
        <p:spPr>
          <a:xfrm>
            <a:off x="3390138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7298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Violations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1636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52B4F"/>
          </a:solidFill>
          <a:ln/>
        </p:spPr>
      </p:sp>
      <p:sp>
        <p:nvSpPr>
          <p:cNvPr id="11" name="Text 9"/>
          <p:cNvSpPr/>
          <p:nvPr/>
        </p:nvSpPr>
        <p:spPr>
          <a:xfrm>
            <a:off x="6231636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₹3,921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68796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3134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52B4F"/>
          </a:solidFill>
          <a:ln/>
        </p:spPr>
      </p:sp>
      <p:sp>
        <p:nvSpPr>
          <p:cNvPr id="14" name="Text 12"/>
          <p:cNvSpPr/>
          <p:nvPr/>
        </p:nvSpPr>
        <p:spPr>
          <a:xfrm>
            <a:off x="9073134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10294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₹39.10 L = ₹3,909,672  |  L = Lakh (1 Lakh = ₹100,000)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Violation Types: Count vs.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 is the 4th most common violation but the #1 revenue source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55080" y="173736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DUI Dominates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fine per stop varies 8x by violation type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989320"/>
            <a:ext cx="10634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 is only 17.6% of all stops but 36.7% of revenue — fine severity, not stop frequency, drives the top line.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Locations by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NH-8 leads, but the spread across locations is narrow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37360"/>
            <a:ext cx="3931920" cy="4480560"/>
          </a:xfrm>
          <a:prstGeom prst="roundRect">
            <a:avLst>
              <a:gd name="adj" fmla="val 2326"/>
            </a:avLst>
          </a:prstGeom>
          <a:solidFill>
            <a:srgbClr val="1B1F3B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23774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locations range from ₹2.74 L to ₹3.53 L — a gap of just 29%. There's no single enforcement hotspot; revenue is spread evenly across the city's major junctions rather than concentrated at one location.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&amp; Time of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spread almost evenly — no strong contextual driver stands out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577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55080" y="1737360"/>
          <a:ext cx="5303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Status &amp; Repeat Offenders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of fines are unpaid or disputed — collection, not detection, may be the bigger gap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783080"/>
            <a:ext cx="5623560" cy="4206240"/>
          </a:xfrm>
          <a:prstGeom prst="roundRect">
            <a:avLst>
              <a:gd name="adj" fmla="val 2174"/>
            </a:avLst>
          </a:prstGeom>
          <a:solidFill>
            <a:srgbClr val="1B1F3B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0" y="2331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34.1%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309360" y="3337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recorded violations were committed by a repeat offender.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4069080"/>
            <a:ext cx="5029200" cy="0"/>
          </a:xfrm>
          <a:prstGeom prst="line">
            <a:avLst/>
          </a:prstGeom>
          <a:noFill/>
          <a:ln w="12700">
            <a:solidFill>
              <a:srgbClr val="3A40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425196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4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₹13.3 L of the ₹39.1 L collected sits in Unpaid status — nearly identical in size to the Disputed bucket. Whether that's a collections process issue or a genuine dispute rate needs the underlying enforcement workflow to judge, not this dataset alone.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supports — and what it doesn't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52B4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is by severity, not frequency: DUI accounts for 36.7% of revenue from just 17.6% of stops — the highest-value lever is fine severity per violation type, not stop volume.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52B4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136392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95351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standout location, weather, or time-of-day pattern: violations split within a narrow 15-30% band across every category tested. Treat location/weather/time differences as noise, not real enforcement signal, unless a larger sample says otherwise.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52B4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87952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00507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gap, not detection gap: a third of fines are unpaid and another third disputed — worth investigating the payment workflow before assuming more enforcement is the fix.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52B4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239512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5056632"/>
            <a:ext cx="10177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script has an unhandled edge case: its null-check on Fine_Amount assumes zero missing values; 5% of rows are actually null. Fix this before treating the SQL output as authoritative.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 Traffic Violation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script, Python pipeline, Power BI dashboard, and cleaned dataset available on GitHub.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252B4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4023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252B4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4023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252B4F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Sajjad Makrani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— SQL · Python · Power BI · Excel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548640"/>
            <a:ext cx="1828800" cy="1828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114800"/>
            <a:ext cx="914400" cy="914400"/>
          </a:xfrm>
          <a:prstGeom prst="ellipse">
            <a:avLst/>
          </a:prstGeom>
          <a:solidFill>
            <a:srgbClr val="F1C40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2026-07-18T09:02:37Z</dcterms:created>
  <dcterms:modified xsi:type="dcterms:W3CDTF">2026-07-18T09:02:37Z</dcterms:modified>
</cp:coreProperties>
</file>